
<file path=[Content_Types].xml><?xml version="1.0" encoding="utf-8"?>
<Types xmlns="http://schemas.openxmlformats.org/package/2006/content-types">
  <Default Extension="bin" ContentType="application/vnd.openxmlformats-officedocument.oleObject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13"/>
  </p:handoutMasterIdLst>
  <p:sldIdLst>
    <p:sldId id="276" r:id="rId2"/>
    <p:sldId id="275" r:id="rId3"/>
    <p:sldId id="277" r:id="rId4"/>
    <p:sldId id="278" r:id="rId5"/>
    <p:sldId id="285" r:id="rId6"/>
    <p:sldId id="279" r:id="rId7"/>
    <p:sldId id="280" r:id="rId8"/>
    <p:sldId id="281" r:id="rId9"/>
    <p:sldId id="282" r:id="rId10"/>
    <p:sldId id="283" r:id="rId11"/>
    <p:sldId id="284" r:id="rId12"/>
  </p:sldIdLst>
  <p:sldSz cx="9144000" cy="6858000" type="screen4x3"/>
  <p:notesSz cx="6858000" cy="9144000"/>
  <p:defaultTextStyle>
    <a:defPPr>
      <a:defRPr lang="ru-R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0" autoAdjust="0"/>
    <p:restoredTop sz="93575" autoAdjust="0"/>
  </p:normalViewPr>
  <p:slideViewPr>
    <p:cSldViewPr snapToGrid="0">
      <p:cViewPr varScale="1">
        <p:scale>
          <a:sx n="70" d="100"/>
          <a:sy n="70" d="100"/>
        </p:scale>
        <p:origin x="504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4.wmf"/><Relationship Id="rId2" Type="http://schemas.openxmlformats.org/officeDocument/2006/relationships/image" Target="../media/image3.wmf"/><Relationship Id="rId1" Type="http://schemas.openxmlformats.org/officeDocument/2006/relationships/image" Target="../media/image2.wmf"/><Relationship Id="rId5" Type="http://schemas.openxmlformats.org/officeDocument/2006/relationships/image" Target="../media/image6.wmf"/><Relationship Id="rId4" Type="http://schemas.openxmlformats.org/officeDocument/2006/relationships/image" Target="../media/image5.w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wmf"/><Relationship Id="rId4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6" Type="http://schemas.openxmlformats.org/officeDocument/2006/relationships/image" Target="../media/image18.wmf"/><Relationship Id="rId5" Type="http://schemas.openxmlformats.org/officeDocument/2006/relationships/image" Target="../media/image17.wmf"/><Relationship Id="rId4" Type="http://schemas.openxmlformats.org/officeDocument/2006/relationships/image" Target="../media/image16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163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ru-RU"/>
          </a:p>
        </p:txBody>
      </p:sp>
      <p:sp>
        <p:nvSpPr>
          <p:cNvPr id="163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ru-RU"/>
          </a:p>
        </p:txBody>
      </p:sp>
      <p:sp>
        <p:nvSpPr>
          <p:cNvPr id="163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11EAEF9D-1F55-4918-AA74-6653AE6183B1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5386493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1B18950-351E-486A-9D4B-CE35DEA0DC44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88574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CC927C-54A4-4506-B91C-B458BB41C666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14490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1012E7-5AFE-4660-AEBB-3FF11497D8A2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254892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473DBAC-13A4-49F3-B1E0-D3B1210C0CD9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17637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6AD8BF-2EC8-42AF-A512-E0628D552E10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4674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DCEF7C-872A-4B65-BDDB-588B3B0B9810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45983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CCBCC2-6BB5-407A-BE39-98C007ECC64C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06182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7C514B-D2F4-416C-8E4C-2C2FE733F4A6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0746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86352B9-4C4E-4804-8F59-6D92928852C4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6304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B25EB6-EC0F-43EC-A98C-BC4895A0DCE3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09098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514179-C673-49C8-805D-4CDE71ED0DC8}" type="slidenum">
              <a:rPr lang="ru-RU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3447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заголовка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ru-RU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ru-RU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FA8EC4B6-50CD-402D-AFC4-5FE72D493035}" type="slidenum">
              <a:rPr lang="ru-RU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w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12" Type="http://schemas.openxmlformats.org/officeDocument/2006/relationships/image" Target="../media/image6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3.wmf"/><Relationship Id="rId11" Type="http://schemas.openxmlformats.org/officeDocument/2006/relationships/oleObject" Target="../embeddings/oleObject6.bin"/><Relationship Id="rId5" Type="http://schemas.openxmlformats.org/officeDocument/2006/relationships/oleObject" Target="../embeddings/oleObject3.bin"/><Relationship Id="rId10" Type="http://schemas.openxmlformats.org/officeDocument/2006/relationships/image" Target="../media/image5.wmf"/><Relationship Id="rId4" Type="http://schemas.openxmlformats.org/officeDocument/2006/relationships/image" Target="../media/image2.wmf"/><Relationship Id="rId9" Type="http://schemas.openxmlformats.org/officeDocument/2006/relationships/oleObject" Target="../embeddings/oleObject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7.bin"/><Relationship Id="rId7" Type="http://schemas.openxmlformats.org/officeDocument/2006/relationships/oleObject" Target="../embeddings/oleObject9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8.bin"/><Relationship Id="rId10" Type="http://schemas.openxmlformats.org/officeDocument/2006/relationships/image" Target="../media/image10.wmf"/><Relationship Id="rId4" Type="http://schemas.openxmlformats.org/officeDocument/2006/relationships/image" Target="../media/image7.wmf"/><Relationship Id="rId9" Type="http://schemas.openxmlformats.org/officeDocument/2006/relationships/oleObject" Target="../embeddings/oleObject10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1.wmf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2.wmf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wmf"/><Relationship Id="rId13" Type="http://schemas.openxmlformats.org/officeDocument/2006/relationships/oleObject" Target="../embeddings/oleObject18.bin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7.wmf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6.wmf"/><Relationship Id="rId4" Type="http://schemas.openxmlformats.org/officeDocument/2006/relationships/image" Target="../media/image13.wmf"/><Relationship Id="rId9" Type="http://schemas.openxmlformats.org/officeDocument/2006/relationships/oleObject" Target="../embeddings/oleObject16.bin"/><Relationship Id="rId14" Type="http://schemas.openxmlformats.org/officeDocument/2006/relationships/image" Target="../media/image18.wmf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ChangeArrowheads="1"/>
          </p:cNvSpPr>
          <p:nvPr/>
        </p:nvSpPr>
        <p:spPr bwMode="auto">
          <a:xfrm>
            <a:off x="190500" y="530225"/>
            <a:ext cx="8953500" cy="49657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993775" indent="-993775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1516063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203835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2560638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3082925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354012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99732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445452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911725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ru-RU" sz="3200" b="1">
                <a:latin typeface="Times New Roman" panose="02020603050405020304" pitchFamily="18" charset="0"/>
              </a:rPr>
              <a:t>Решение систем линейных алгебраических уравнений (СЛАУ)</a:t>
            </a:r>
            <a:endParaRPr lang="en-US" sz="3200" b="1">
              <a:latin typeface="Times New Roman" panose="02020603050405020304" pitchFamily="18" charset="0"/>
            </a:endParaRPr>
          </a:p>
          <a:p>
            <a:pPr algn="just">
              <a:buFontTx/>
              <a:buAutoNum type="arabicPeriod"/>
            </a:pPr>
            <a:r>
              <a:rPr lang="ru-RU" sz="3200" b="1" i="1">
                <a:latin typeface="Times New Roman" panose="02020603050405020304" pitchFamily="18" charset="0"/>
              </a:rPr>
              <a:t>Постановка задачи</a:t>
            </a:r>
            <a:endParaRPr lang="en-US" sz="3200" b="1" i="1">
              <a:latin typeface="Times New Roman" panose="02020603050405020304" pitchFamily="18" charset="0"/>
            </a:endParaRPr>
          </a:p>
          <a:p>
            <a:pPr algn="just">
              <a:buFontTx/>
              <a:buAutoNum type="arabicPeriod"/>
            </a:pPr>
            <a:r>
              <a:rPr lang="ru-RU" sz="3200" b="1" i="1">
                <a:latin typeface="Times New Roman" panose="02020603050405020304" pitchFamily="18" charset="0"/>
              </a:rPr>
              <a:t>Методы решения:</a:t>
            </a:r>
          </a:p>
          <a:p>
            <a:pPr lvl="1" algn="just"/>
            <a:r>
              <a:rPr lang="ru-RU" sz="3200" b="1" i="1">
                <a:latin typeface="Times New Roman" panose="02020603050405020304" pitchFamily="18" charset="0"/>
              </a:rPr>
              <a:t>метод Гаусса</a:t>
            </a:r>
          </a:p>
          <a:p>
            <a:pPr lvl="1" algn="just"/>
            <a:r>
              <a:rPr lang="ru-RU" sz="3200" b="1" i="1">
                <a:latin typeface="Times New Roman" panose="02020603050405020304" pitchFamily="18" charset="0"/>
              </a:rPr>
              <a:t>метод ортогонализации</a:t>
            </a:r>
          </a:p>
          <a:p>
            <a:pPr lvl="1" algn="just"/>
            <a:r>
              <a:rPr lang="ru-RU" sz="3200" b="1" i="1">
                <a:latin typeface="Times New Roman" panose="02020603050405020304" pitchFamily="18" charset="0"/>
              </a:rPr>
              <a:t>метод простой итерации (МПИ),</a:t>
            </a:r>
          </a:p>
          <a:p>
            <a:pPr lvl="1" algn="just"/>
            <a:r>
              <a:rPr lang="ru-RU" sz="3200" b="1" i="1">
                <a:latin typeface="Times New Roman" panose="02020603050405020304" pitchFamily="18" charset="0"/>
              </a:rPr>
              <a:t>метод Зейделя, метод Монте-Карло,</a:t>
            </a:r>
          </a:p>
          <a:p>
            <a:pPr lvl="1" algn="just"/>
            <a:r>
              <a:rPr lang="ru-RU" sz="3200" b="1" i="1">
                <a:latin typeface="Times New Roman" panose="02020603050405020304" pitchFamily="18" charset="0"/>
              </a:rPr>
              <a:t>итерационная схема</a:t>
            </a:r>
            <a:r>
              <a:rPr lang="ru-RU" sz="3200">
                <a:latin typeface="Times New Roman" panose="02020603050405020304" pitchFamily="18" charset="0"/>
              </a:rPr>
              <a:t> </a:t>
            </a:r>
            <a:r>
              <a:rPr lang="ru-RU" sz="3200" b="1" i="1">
                <a:latin typeface="Times New Roman" panose="02020603050405020304" pitchFamily="18" charset="0"/>
              </a:rPr>
              <a:t>метода ортогонализации.</a:t>
            </a:r>
          </a:p>
        </p:txBody>
      </p:sp>
      <p:sp>
        <p:nvSpPr>
          <p:cNvPr id="48131" name="Rectangle 3"/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81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81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481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813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4813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4813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4813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4813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190500" y="371475"/>
            <a:ext cx="8953500" cy="594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ru-RU" sz="3200" b="1" i="1">
                <a:latin typeface="Times New Roman" panose="02020603050405020304" pitchFamily="18" charset="0"/>
              </a:rPr>
              <a:t>Постановка задачи</a:t>
            </a:r>
            <a:endParaRPr lang="en-US" sz="3200" b="1" i="1">
              <a:latin typeface="Times New Roman" panose="02020603050405020304" pitchFamily="18" charset="0"/>
            </a:endParaRPr>
          </a:p>
          <a:p>
            <a:pPr algn="just"/>
            <a:r>
              <a:rPr lang="ru-RU" sz="3200">
                <a:latin typeface="Times New Roman" panose="02020603050405020304" pitchFamily="18" charset="0"/>
              </a:rPr>
              <a:t>Виды методов:</a:t>
            </a:r>
            <a:endParaRPr lang="ru-RU" sz="3200" b="1">
              <a:latin typeface="Times New Roman" panose="02020603050405020304" pitchFamily="18" charset="0"/>
            </a:endParaRPr>
          </a:p>
          <a:p>
            <a:pPr algn="just"/>
            <a:r>
              <a:rPr lang="ru-RU" sz="3200" b="1">
                <a:latin typeface="Times New Roman" panose="02020603050405020304" pitchFamily="18" charset="0"/>
              </a:rPr>
              <a:t>1. прямые</a:t>
            </a:r>
            <a:r>
              <a:rPr lang="ru-RU" sz="3200">
                <a:latin typeface="Times New Roman" panose="02020603050405020304" pitchFamily="18" charset="0"/>
              </a:rPr>
              <a:t> (точные) </a:t>
            </a:r>
          </a:p>
          <a:p>
            <a:pPr algn="just"/>
            <a:r>
              <a:rPr lang="ru-RU" sz="3200">
                <a:latin typeface="Times New Roman" panose="02020603050405020304" pitchFamily="18" charset="0"/>
              </a:rPr>
              <a:t>конечное число арифметических операций</a:t>
            </a:r>
          </a:p>
          <a:p>
            <a:pPr algn="just"/>
            <a:r>
              <a:rPr lang="ru-RU" sz="3200">
                <a:latin typeface="Times New Roman" panose="02020603050405020304" pitchFamily="18" charset="0"/>
              </a:rPr>
              <a:t>метод Гаусса, метод Крамера, матричный метод, метод ортогонализации.</a:t>
            </a:r>
            <a:endParaRPr lang="ru-RU" sz="3200" b="1">
              <a:latin typeface="Times New Roman" panose="02020603050405020304" pitchFamily="18" charset="0"/>
            </a:endParaRPr>
          </a:p>
          <a:p>
            <a:pPr algn="just"/>
            <a:r>
              <a:rPr lang="ru-RU" sz="3200" b="1">
                <a:latin typeface="Times New Roman" panose="02020603050405020304" pitchFamily="18" charset="0"/>
              </a:rPr>
              <a:t>2. итерационные</a:t>
            </a:r>
            <a:r>
              <a:rPr lang="ru-RU" sz="3200">
                <a:latin typeface="Times New Roman" panose="02020603050405020304" pitchFamily="18" charset="0"/>
              </a:rPr>
              <a:t> (приближённые) </a:t>
            </a:r>
          </a:p>
          <a:p>
            <a:pPr algn="just"/>
            <a:r>
              <a:rPr lang="ru-RU" sz="3200">
                <a:latin typeface="Times New Roman" panose="02020603050405020304" pitchFamily="18" charset="0"/>
              </a:rPr>
              <a:t>решение - передел последовательных приближений, вычисляемых по единой схеме метод простой итерации (МПИ), метод Зейделя, метод Монте-Карло, итерационная схема метода ортогонализации.</a:t>
            </a:r>
          </a:p>
        </p:txBody>
      </p:sp>
      <p:sp>
        <p:nvSpPr>
          <p:cNvPr id="23555" name="Rectangle 3"/>
          <p:cNvSpPr>
            <a:spLocks noChangeArrowheads="1"/>
          </p:cNvSpPr>
          <p:nvPr/>
        </p:nvSpPr>
        <p:spPr bwMode="auto">
          <a:xfrm>
            <a:off x="0" y="317658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35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355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355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355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355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355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2355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4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156" name="Object 4"/>
          <p:cNvGraphicFramePr>
            <a:graphicFrameLocks noChangeAspect="1"/>
          </p:cNvGraphicFramePr>
          <p:nvPr/>
        </p:nvGraphicFramePr>
        <p:xfrm>
          <a:off x="485775" y="1587500"/>
          <a:ext cx="7127875" cy="3227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9165" name="Формула" r:id="rId3" imgW="2082600" imgH="939600" progId="Equation.3">
                  <p:embed/>
                </p:oleObj>
              </mc:Choice>
              <mc:Fallback>
                <p:oleObj name="Формула" r:id="rId3" imgW="2082600" imgH="939600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775" y="1587500"/>
                        <a:ext cx="7127875" cy="32273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8" name="Rectangle 6"/>
          <p:cNvSpPr>
            <a:spLocks noChangeArrowheads="1"/>
          </p:cNvSpPr>
          <p:nvPr/>
        </p:nvSpPr>
        <p:spPr bwMode="auto">
          <a:xfrm>
            <a:off x="7899400" y="3178175"/>
            <a:ext cx="8493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3429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8001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2573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7145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171700" indent="-3429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6289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30861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5433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4000500" indent="-3429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/>
            <a:r>
              <a:rPr lang="ru-RU" sz="3200" b="1">
                <a:latin typeface="Times New Roman" panose="02020603050405020304" pitchFamily="18" charset="0"/>
              </a:rPr>
              <a:t>(*)</a:t>
            </a:r>
            <a:endParaRPr lang="en-US" sz="32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9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180" name="Object 4"/>
          <p:cNvGraphicFramePr>
            <a:graphicFrameLocks noChangeAspect="1"/>
          </p:cNvGraphicFramePr>
          <p:nvPr/>
        </p:nvGraphicFramePr>
        <p:xfrm>
          <a:off x="273050" y="296863"/>
          <a:ext cx="2076450" cy="615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8" name="Формула" r:id="rId3" imgW="609336" imgH="177723" progId="Equation.3">
                  <p:embed/>
                </p:oleObj>
              </mc:Choice>
              <mc:Fallback>
                <p:oleObj name="Формула" r:id="rId3" imgW="609336" imgH="17772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050" y="296863"/>
                        <a:ext cx="2076450" cy="615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1" name="Rectangle 5"/>
          <p:cNvSpPr>
            <a:spLocks noChangeArrowheads="1"/>
          </p:cNvSpPr>
          <p:nvPr/>
        </p:nvSpPr>
        <p:spPr bwMode="auto">
          <a:xfrm>
            <a:off x="0" y="2957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018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6107092"/>
              </p:ext>
            </p:extLst>
          </p:nvPr>
        </p:nvGraphicFramePr>
        <p:xfrm>
          <a:off x="2765425" y="228600"/>
          <a:ext cx="3262313" cy="1933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199" name="Уравнение" r:id="rId5" imgW="1587240" imgH="939600" progId="Equation.3">
                  <p:embed/>
                </p:oleObj>
              </mc:Choice>
              <mc:Fallback>
                <p:oleObj name="Уравнение" r:id="rId5" imgW="1587240" imgH="9396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65425" y="228600"/>
                        <a:ext cx="3262313" cy="19335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3" name="Rectangle 7"/>
          <p:cNvSpPr>
            <a:spLocks noChangeArrowheads="1"/>
          </p:cNvSpPr>
          <p:nvPr/>
        </p:nvSpPr>
        <p:spPr bwMode="auto">
          <a:xfrm>
            <a:off x="6105525" y="974725"/>
            <a:ext cx="26908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sz="2400">
                <a:latin typeface="Times New Roman" panose="02020603050405020304" pitchFamily="18" charset="0"/>
              </a:rPr>
              <a:t>- матрица системы </a:t>
            </a:r>
          </a:p>
        </p:txBody>
      </p:sp>
      <p:sp>
        <p:nvSpPr>
          <p:cNvPr id="50185" name="Rectangle 9"/>
          <p:cNvSpPr>
            <a:spLocks noChangeArrowheads="1"/>
          </p:cNvSpPr>
          <p:nvPr/>
        </p:nvSpPr>
        <p:spPr bwMode="auto">
          <a:xfrm>
            <a:off x="0" y="2957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01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61752246"/>
              </p:ext>
            </p:extLst>
          </p:nvPr>
        </p:nvGraphicFramePr>
        <p:xfrm>
          <a:off x="28575" y="1570038"/>
          <a:ext cx="1373188" cy="21129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0" name="Уравнение" r:id="rId7" imgW="609480" imgH="939600" progId="Equation.3">
                  <p:embed/>
                </p:oleObj>
              </mc:Choice>
              <mc:Fallback>
                <p:oleObj name="Уравнение" r:id="rId7" imgW="609480" imgH="9396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575" y="1570038"/>
                        <a:ext cx="1373188" cy="211296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6" name="Rectangle 10"/>
          <p:cNvSpPr>
            <a:spLocks noChangeArrowheads="1"/>
          </p:cNvSpPr>
          <p:nvPr/>
        </p:nvSpPr>
        <p:spPr bwMode="auto">
          <a:xfrm>
            <a:off x="1495425" y="2162175"/>
            <a:ext cx="50561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sz="2400">
                <a:latin typeface="Times New Roman" panose="02020603050405020304" pitchFamily="18" charset="0"/>
              </a:rPr>
              <a:t>- вектор пространства размерности </a:t>
            </a:r>
            <a:r>
              <a:rPr lang="en-US" sz="2400" i="1">
                <a:latin typeface="Times New Roman" panose="02020603050405020304" pitchFamily="18" charset="0"/>
              </a:rPr>
              <a:t>n</a:t>
            </a:r>
            <a:r>
              <a:rPr lang="ru-RU" sz="2400">
                <a:latin typeface="Times New Roman" panose="02020603050405020304" pitchFamily="18" charset="0"/>
              </a:rPr>
              <a:t> </a:t>
            </a:r>
          </a:p>
        </p:txBody>
      </p:sp>
      <p:sp>
        <p:nvSpPr>
          <p:cNvPr id="50188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0187" name="Object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222845"/>
              </p:ext>
            </p:extLst>
          </p:nvPr>
        </p:nvGraphicFramePr>
        <p:xfrm>
          <a:off x="2170113" y="2527300"/>
          <a:ext cx="1330325" cy="1771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1" name="Уравнение" r:id="rId9" imgW="711000" imgH="939600" progId="Equation.3">
                  <p:embed/>
                </p:oleObj>
              </mc:Choice>
              <mc:Fallback>
                <p:oleObj name="Уравнение" r:id="rId9" imgW="711000" imgH="939600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70113" y="2527300"/>
                        <a:ext cx="1330325" cy="17716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9" name="Rectangle 13"/>
          <p:cNvSpPr>
            <a:spLocks noChangeArrowheads="1"/>
          </p:cNvSpPr>
          <p:nvPr/>
        </p:nvSpPr>
        <p:spPr bwMode="auto">
          <a:xfrm>
            <a:off x="3544888" y="3706813"/>
            <a:ext cx="51244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sz="2400">
                <a:latin typeface="Times New Roman" panose="02020603050405020304" pitchFamily="18" charset="0"/>
              </a:rPr>
              <a:t>- вектор пространства размерности </a:t>
            </a:r>
            <a:r>
              <a:rPr lang="en-US" sz="2400" i="1">
                <a:latin typeface="Times New Roman" panose="02020603050405020304" pitchFamily="18" charset="0"/>
              </a:rPr>
              <a:t>m</a:t>
            </a:r>
            <a:r>
              <a:rPr lang="ru-RU" sz="2400">
                <a:latin typeface="Times New Roman" panose="02020603050405020304" pitchFamily="18" charset="0"/>
              </a:rPr>
              <a:t> </a:t>
            </a:r>
          </a:p>
        </p:txBody>
      </p:sp>
      <p:graphicFrame>
        <p:nvGraphicFramePr>
          <p:cNvPr id="50190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69395103"/>
              </p:ext>
            </p:extLst>
          </p:nvPr>
        </p:nvGraphicFramePr>
        <p:xfrm>
          <a:off x="461963" y="4438650"/>
          <a:ext cx="4287837" cy="21256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0202" name="Уравнение" r:id="rId11" imgW="1904760" imgH="939600" progId="Equation.3">
                  <p:embed/>
                </p:oleObj>
              </mc:Choice>
              <mc:Fallback>
                <p:oleObj name="Уравнение" r:id="rId11" imgW="1904760" imgH="9396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1963" y="4438650"/>
                        <a:ext cx="4287837" cy="21256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2" name="Rectangle 16"/>
          <p:cNvSpPr>
            <a:spLocks noChangeArrowheads="1"/>
          </p:cNvSpPr>
          <p:nvPr/>
        </p:nvSpPr>
        <p:spPr bwMode="auto">
          <a:xfrm>
            <a:off x="4899025" y="5148263"/>
            <a:ext cx="3224213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>
              <a:buFontTx/>
              <a:buChar char="-"/>
            </a:pPr>
            <a:r>
              <a:rPr lang="ru-RU" sz="2400">
                <a:latin typeface="Times New Roman" panose="02020603050405020304" pitchFamily="18" charset="0"/>
              </a:rPr>
              <a:t> расширенная матрица</a:t>
            </a:r>
          </a:p>
          <a:p>
            <a:r>
              <a:rPr lang="ru-RU" sz="2400">
                <a:latin typeface="Times New Roman" panose="02020603050405020304" pitchFamily="18" charset="0"/>
              </a:rPr>
              <a:t>системы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3" dur="5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8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6" dur="500"/>
                                        <p:tgtEl>
                                          <p:spTgt spid="5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83" grpId="0"/>
      <p:bldP spid="50186" grpId="0"/>
      <p:bldP spid="50189" grpId="0"/>
      <p:bldP spid="5019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8370" name="Object 2"/>
          <p:cNvGraphicFramePr>
            <a:graphicFrameLocks noChangeAspect="1"/>
          </p:cNvGraphicFramePr>
          <p:nvPr/>
        </p:nvGraphicFramePr>
        <p:xfrm>
          <a:off x="1379538" y="1377950"/>
          <a:ext cx="47148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0" name="Формула" r:id="rId3" imgW="1384200" imgH="228600" progId="Equation.3">
                  <p:embed/>
                </p:oleObj>
              </mc:Choice>
              <mc:Fallback>
                <p:oleObj name="Формула" r:id="rId3" imgW="1384200" imgH="2286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9538" y="1377950"/>
                        <a:ext cx="4714875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77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8382" name="Object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76740588"/>
              </p:ext>
            </p:extLst>
          </p:nvPr>
        </p:nvGraphicFramePr>
        <p:xfrm>
          <a:off x="1576388" y="2051050"/>
          <a:ext cx="4195762" cy="158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1" name="Уравнение" r:id="rId5" imgW="1231560" imgH="457200" progId="Equation.3">
                  <p:embed/>
                </p:oleObj>
              </mc:Choice>
              <mc:Fallback>
                <p:oleObj name="Уравнение" r:id="rId5" imgW="1231560" imgH="457200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76388" y="2051050"/>
                        <a:ext cx="4195762" cy="158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3" name="Object 15"/>
          <p:cNvGraphicFramePr>
            <a:graphicFrameLocks noChangeAspect="1"/>
          </p:cNvGraphicFramePr>
          <p:nvPr/>
        </p:nvGraphicFramePr>
        <p:xfrm>
          <a:off x="2359025" y="3911600"/>
          <a:ext cx="2984500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2" name="Формула" r:id="rId7" imgW="876240" imgH="203040" progId="Equation.3">
                  <p:embed/>
                </p:oleObj>
              </mc:Choice>
              <mc:Fallback>
                <p:oleObj name="Формула" r:id="rId7" imgW="876240" imgH="203040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9025" y="3911600"/>
                        <a:ext cx="2984500" cy="703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8384" name="Object 16"/>
          <p:cNvGraphicFramePr>
            <a:graphicFrameLocks noChangeAspect="1"/>
          </p:cNvGraphicFramePr>
          <p:nvPr/>
        </p:nvGraphicFramePr>
        <p:xfrm>
          <a:off x="2749550" y="4965700"/>
          <a:ext cx="2379663" cy="703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8393" name="Формула" r:id="rId9" imgW="698400" imgH="203040" progId="Equation.3">
                  <p:embed/>
                </p:oleObj>
              </mc:Choice>
              <mc:Fallback>
                <p:oleObj name="Формула" r:id="rId9" imgW="698400" imgH="203040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49550" y="4965700"/>
                        <a:ext cx="2379663" cy="7032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8385" name="Text Box 17"/>
          <p:cNvSpPr txBox="1">
            <a:spLocks noChangeArrowheads="1"/>
          </p:cNvSpPr>
          <p:nvPr/>
        </p:nvSpPr>
        <p:spPr bwMode="auto">
          <a:xfrm>
            <a:off x="2905125" y="295275"/>
            <a:ext cx="360521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ru-RU" sz="3200"/>
              <a:t>Матричный метод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8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8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8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3"/>
          <p:cNvSpPr>
            <a:spLocks noChangeArrowheads="1"/>
          </p:cNvSpPr>
          <p:nvPr/>
        </p:nvSpPr>
        <p:spPr bwMode="auto">
          <a:xfrm>
            <a:off x="0" y="2957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206" name="Rectangle 6"/>
          <p:cNvSpPr>
            <a:spLocks noChangeArrowheads="1"/>
          </p:cNvSpPr>
          <p:nvPr/>
        </p:nvSpPr>
        <p:spPr bwMode="auto">
          <a:xfrm>
            <a:off x="0" y="2957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209" name="Rectangle 9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1216" name="Rectangle 16"/>
          <p:cNvSpPr>
            <a:spLocks noChangeArrowheads="1"/>
          </p:cNvSpPr>
          <p:nvPr/>
        </p:nvSpPr>
        <p:spPr bwMode="auto">
          <a:xfrm>
            <a:off x="252413" y="1004888"/>
            <a:ext cx="595947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r>
              <a:rPr lang="ru-RU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Решение системы</a:t>
            </a:r>
            <a:r>
              <a:rPr lang="ru-RU" sz="2800">
                <a:latin typeface="Times New Roman" panose="02020603050405020304" pitchFamily="18" charset="0"/>
                <a:cs typeface="Times New Roman" panose="02020603050405020304" pitchFamily="18" charset="0"/>
              </a:rPr>
              <a:t> (*)</a:t>
            </a:r>
            <a:endParaRPr lang="ru-RU" sz="2800">
              <a:latin typeface="Times New Roman" panose="02020603050405020304" pitchFamily="18" charset="0"/>
            </a:endParaRPr>
          </a:p>
          <a:p>
            <a:r>
              <a:rPr lang="ru-RU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>
                <a:latin typeface="Times New Roman" panose="02020603050405020304" pitchFamily="18" charset="0"/>
              </a:rPr>
              <a:t>- </a:t>
            </a:r>
            <a:r>
              <a:rPr lang="ru-RU" sz="2800">
                <a:latin typeface="Times New Roman" panose="02020603050405020304" pitchFamily="18" charset="0"/>
                <a:cs typeface="Times New Roman" panose="02020603050405020304" pitchFamily="18" charset="0"/>
              </a:rPr>
              <a:t>упорядоченная совокупность чисел </a:t>
            </a:r>
            <a:endParaRPr lang="ru-RU" sz="2800">
              <a:latin typeface="Times New Roman" panose="02020603050405020304" pitchFamily="18" charset="0"/>
            </a:endParaRPr>
          </a:p>
        </p:txBody>
      </p:sp>
      <p:graphicFrame>
        <p:nvGraphicFramePr>
          <p:cNvPr id="51215" name="Object 15"/>
          <p:cNvGraphicFramePr>
            <a:graphicFrameLocks noChangeAspect="1"/>
          </p:cNvGraphicFramePr>
          <p:nvPr/>
        </p:nvGraphicFramePr>
        <p:xfrm>
          <a:off x="6318250" y="1173163"/>
          <a:ext cx="2173288" cy="7350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20" name="Формула" r:id="rId3" imgW="672808" imgH="228501" progId="Equation.3">
                  <p:embed/>
                </p:oleObj>
              </mc:Choice>
              <mc:Fallback>
                <p:oleObj name="Формула" r:id="rId3" imgW="672808" imgH="228501" progId="Equation.3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8250" y="1173163"/>
                        <a:ext cx="2173288" cy="7350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18" name="Rectangle 18"/>
          <p:cNvSpPr>
            <a:spLocks noChangeArrowheads="1"/>
          </p:cNvSpPr>
          <p:nvPr/>
        </p:nvSpPr>
        <p:spPr bwMode="auto">
          <a:xfrm>
            <a:off x="219075" y="2097088"/>
            <a:ext cx="8655050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ru-RU" sz="2800" b="1">
                <a:latin typeface="Times New Roman" panose="02020603050405020304" pitchFamily="18" charset="0"/>
              </a:rPr>
              <a:t>Равносильные</a:t>
            </a:r>
            <a:r>
              <a:rPr lang="ru-RU" sz="2800">
                <a:latin typeface="Times New Roman" panose="02020603050405020304" pitchFamily="18" charset="0"/>
              </a:rPr>
              <a:t> системы уравнений </a:t>
            </a:r>
          </a:p>
          <a:p>
            <a:pPr algn="just"/>
            <a:r>
              <a:rPr lang="ru-RU" sz="2800">
                <a:latin typeface="Times New Roman" panose="02020603050405020304" pitchFamily="18" charset="0"/>
              </a:rPr>
              <a:t>- решения одной являются решениями другой и наоборот.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12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1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1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16" grpId="0"/>
      <p:bldP spid="5121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32" name="AutoShape 8"/>
          <p:cNvSpPr>
            <a:spLocks noChangeArrowheads="1"/>
          </p:cNvSpPr>
          <p:nvPr/>
        </p:nvSpPr>
        <p:spPr bwMode="auto">
          <a:xfrm>
            <a:off x="3089275" y="280988"/>
            <a:ext cx="2808288" cy="6667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ru-RU" sz="3200">
                <a:latin typeface="Times New Roman" panose="02020603050405020304" pitchFamily="18" charset="0"/>
              </a:rPr>
              <a:t>СЛАУ</a:t>
            </a:r>
          </a:p>
        </p:txBody>
      </p:sp>
      <p:sp>
        <p:nvSpPr>
          <p:cNvPr id="52233" name="AutoShape 9"/>
          <p:cNvSpPr>
            <a:spLocks noChangeArrowheads="1"/>
          </p:cNvSpPr>
          <p:nvPr/>
        </p:nvSpPr>
        <p:spPr bwMode="auto">
          <a:xfrm>
            <a:off x="144463" y="1446213"/>
            <a:ext cx="4425950" cy="1277937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ru-RU" sz="2400" b="1">
                <a:latin typeface="Times New Roman" panose="02020603050405020304" pitchFamily="18" charset="0"/>
              </a:rPr>
              <a:t>Совместные</a:t>
            </a:r>
          </a:p>
          <a:p>
            <a:pPr algn="ctr"/>
            <a:r>
              <a:rPr lang="ru-RU" sz="2400">
                <a:latin typeface="Times New Roman" panose="02020603050405020304" pitchFamily="18" charset="0"/>
              </a:rPr>
              <a:t>(есть хотя бы одно решение)</a:t>
            </a:r>
            <a:endParaRPr lang="en-US" sz="2400">
              <a:latin typeface="Times New Roman" panose="02020603050405020304" pitchFamily="18" charset="0"/>
            </a:endParaRPr>
          </a:p>
          <a:p>
            <a:pPr algn="ctr"/>
            <a:r>
              <a:rPr lang="en-US" sz="2400">
                <a:latin typeface="Times New Roman" panose="02020603050405020304" pitchFamily="18" charset="0"/>
              </a:rPr>
              <a:t>rang A = rang B</a:t>
            </a:r>
            <a:endParaRPr lang="ru-RU" sz="2400">
              <a:latin typeface="Times New Roman" panose="02020603050405020304" pitchFamily="18" charset="0"/>
            </a:endParaRPr>
          </a:p>
        </p:txBody>
      </p:sp>
      <p:sp>
        <p:nvSpPr>
          <p:cNvPr id="52234" name="AutoShape 10"/>
          <p:cNvSpPr>
            <a:spLocks noChangeArrowheads="1"/>
          </p:cNvSpPr>
          <p:nvPr/>
        </p:nvSpPr>
        <p:spPr bwMode="auto">
          <a:xfrm>
            <a:off x="4833938" y="1482725"/>
            <a:ext cx="4310062" cy="12065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28575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ru-RU" sz="2400" b="1">
                <a:latin typeface="Times New Roman" panose="02020603050405020304" pitchFamily="18" charset="0"/>
              </a:rPr>
              <a:t>Несовместные</a:t>
            </a:r>
          </a:p>
          <a:p>
            <a:pPr algn="ctr"/>
            <a:r>
              <a:rPr lang="ru-RU" sz="2400">
                <a:latin typeface="Times New Roman" panose="02020603050405020304" pitchFamily="18" charset="0"/>
              </a:rPr>
              <a:t>(нет решений)</a:t>
            </a:r>
            <a:endParaRPr lang="en-US" sz="2400">
              <a:latin typeface="Times New Roman" panose="02020603050405020304" pitchFamily="18" charset="0"/>
            </a:endParaRPr>
          </a:p>
          <a:p>
            <a:pPr algn="ctr"/>
            <a:r>
              <a:rPr lang="en-US" sz="2400">
                <a:latin typeface="Times New Roman" panose="02020603050405020304" pitchFamily="18" charset="0"/>
              </a:rPr>
              <a:t>rang A &lt; rang B</a:t>
            </a:r>
            <a:endParaRPr lang="ru-RU" sz="2400">
              <a:latin typeface="Times New Roman" panose="02020603050405020304" pitchFamily="18" charset="0"/>
            </a:endParaRPr>
          </a:p>
        </p:txBody>
      </p:sp>
      <p:sp>
        <p:nvSpPr>
          <p:cNvPr id="52235" name="AutoShape 11"/>
          <p:cNvSpPr>
            <a:spLocks noChangeArrowheads="1"/>
          </p:cNvSpPr>
          <p:nvPr/>
        </p:nvSpPr>
        <p:spPr bwMode="auto">
          <a:xfrm>
            <a:off x="190500" y="3587750"/>
            <a:ext cx="3652838" cy="1535113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ru-RU" sz="2400" b="1">
                <a:latin typeface="Times New Roman" panose="02020603050405020304" pitchFamily="18" charset="0"/>
              </a:rPr>
              <a:t>определённые</a:t>
            </a:r>
          </a:p>
          <a:p>
            <a:pPr algn="ctr"/>
            <a:r>
              <a:rPr lang="ru-RU" sz="2400">
                <a:latin typeface="Times New Roman" panose="02020603050405020304" pitchFamily="18" charset="0"/>
              </a:rPr>
              <a:t>(одно решение)</a:t>
            </a:r>
            <a:endParaRPr lang="en-US" sz="2400">
              <a:latin typeface="Times New Roman" panose="02020603050405020304" pitchFamily="18" charset="0"/>
            </a:endParaRPr>
          </a:p>
          <a:p>
            <a:pPr algn="ctr"/>
            <a:r>
              <a:rPr lang="en-US" sz="2400">
                <a:latin typeface="Times New Roman" panose="02020603050405020304" pitchFamily="18" charset="0"/>
              </a:rPr>
              <a:t>rang A = n</a:t>
            </a:r>
            <a:endParaRPr lang="ru-RU" sz="2400">
              <a:latin typeface="Times New Roman" panose="02020603050405020304" pitchFamily="18" charset="0"/>
            </a:endParaRPr>
          </a:p>
        </p:txBody>
      </p:sp>
      <p:sp>
        <p:nvSpPr>
          <p:cNvPr id="52236" name="AutoShape 12"/>
          <p:cNvSpPr>
            <a:spLocks noChangeArrowheads="1"/>
          </p:cNvSpPr>
          <p:nvPr/>
        </p:nvSpPr>
        <p:spPr bwMode="auto">
          <a:xfrm>
            <a:off x="4170363" y="3563938"/>
            <a:ext cx="4210050" cy="1565275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38100">
            <a:solidFill>
              <a:srgbClr val="000000"/>
            </a:solidFill>
            <a:round/>
            <a:headEnd/>
            <a:tailEnd/>
          </a:ln>
        </p:spPr>
        <p:txBody>
          <a:bodyPr/>
          <a:lstStyle/>
          <a:p>
            <a:pPr algn="ctr"/>
            <a:r>
              <a:rPr lang="ru-RU" sz="2400" b="1">
                <a:latin typeface="Times New Roman" panose="02020603050405020304" pitchFamily="18" charset="0"/>
              </a:rPr>
              <a:t>неопределённые</a:t>
            </a:r>
          </a:p>
          <a:p>
            <a:pPr algn="ctr"/>
            <a:r>
              <a:rPr lang="ru-RU" sz="2400">
                <a:latin typeface="Times New Roman" panose="02020603050405020304" pitchFamily="18" charset="0"/>
              </a:rPr>
              <a:t>(бесконечно много решений)</a:t>
            </a:r>
            <a:endParaRPr lang="en-US" sz="2400">
              <a:latin typeface="Times New Roman" panose="02020603050405020304" pitchFamily="18" charset="0"/>
            </a:endParaRPr>
          </a:p>
          <a:p>
            <a:pPr algn="ctr"/>
            <a:r>
              <a:rPr lang="en-US" sz="2400">
                <a:latin typeface="Times New Roman" panose="02020603050405020304" pitchFamily="18" charset="0"/>
              </a:rPr>
              <a:t>rang A &lt; n</a:t>
            </a:r>
            <a:endParaRPr lang="ru-RU" sz="2400">
              <a:latin typeface="Times New Roman" panose="02020603050405020304" pitchFamily="18" charset="0"/>
            </a:endParaRPr>
          </a:p>
        </p:txBody>
      </p:sp>
      <p:sp>
        <p:nvSpPr>
          <p:cNvPr id="52237" name="Line 13"/>
          <p:cNvSpPr>
            <a:spLocks noChangeShapeType="1"/>
          </p:cNvSpPr>
          <p:nvPr/>
        </p:nvSpPr>
        <p:spPr bwMode="auto">
          <a:xfrm flipH="1">
            <a:off x="3084513" y="939800"/>
            <a:ext cx="790575" cy="495300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52238" name="Line 14"/>
          <p:cNvSpPr>
            <a:spLocks noChangeShapeType="1"/>
          </p:cNvSpPr>
          <p:nvPr/>
        </p:nvSpPr>
        <p:spPr bwMode="auto">
          <a:xfrm>
            <a:off x="4865688" y="941388"/>
            <a:ext cx="1057275" cy="544512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52239" name="Line 15"/>
          <p:cNvSpPr>
            <a:spLocks noChangeShapeType="1"/>
          </p:cNvSpPr>
          <p:nvPr/>
        </p:nvSpPr>
        <p:spPr bwMode="auto">
          <a:xfrm>
            <a:off x="3814763" y="2720975"/>
            <a:ext cx="1387475" cy="811213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  <p:sp>
        <p:nvSpPr>
          <p:cNvPr id="52240" name="Line 16"/>
          <p:cNvSpPr>
            <a:spLocks noChangeShapeType="1"/>
          </p:cNvSpPr>
          <p:nvPr/>
        </p:nvSpPr>
        <p:spPr bwMode="auto">
          <a:xfrm flipH="1">
            <a:off x="1017588" y="2736850"/>
            <a:ext cx="1012825" cy="839788"/>
          </a:xfrm>
          <a:prstGeom prst="line">
            <a:avLst/>
          </a:prstGeom>
          <a:noFill/>
          <a:ln w="3810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ru-R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2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223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223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5223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5223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52234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522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522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522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522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7" dur="500"/>
                                        <p:tgtEl>
                                          <p:spTgt spid="52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5223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522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522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522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52236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7" dur="500"/>
                                        <p:tgtEl>
                                          <p:spTgt spid="522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2" dur="500"/>
                                        <p:tgtEl>
                                          <p:spTgt spid="522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7" dur="500"/>
                                        <p:tgtEl>
                                          <p:spTgt spid="522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32" grpId="0" animBg="1"/>
      <p:bldP spid="52233" grpId="0" build="p" animBg="1"/>
      <p:bldP spid="52234" grpId="0" build="p" animBg="1"/>
      <p:bldP spid="52235" grpId="0" build="p" animBg="1"/>
      <p:bldP spid="52236" grpId="0" build="p" animBg="1"/>
      <p:bldP spid="52237" grpId="0" animBg="1"/>
      <p:bldP spid="52238" grpId="0" animBg="1"/>
      <p:bldP spid="52239" grpId="0" animBg="1"/>
      <p:bldP spid="5224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/>
          <p:cNvSpPr>
            <a:spLocks noChangeArrowheads="1"/>
          </p:cNvSpPr>
          <p:nvPr/>
        </p:nvSpPr>
        <p:spPr bwMode="auto">
          <a:xfrm>
            <a:off x="0" y="2957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3251" name="Rectangle 3"/>
          <p:cNvSpPr>
            <a:spLocks noChangeArrowheads="1"/>
          </p:cNvSpPr>
          <p:nvPr/>
        </p:nvSpPr>
        <p:spPr bwMode="auto">
          <a:xfrm>
            <a:off x="0" y="2957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3252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3257" name="Rectangle 9"/>
          <p:cNvSpPr>
            <a:spLocks noChangeArrowheads="1"/>
          </p:cNvSpPr>
          <p:nvPr/>
        </p:nvSpPr>
        <p:spPr bwMode="auto">
          <a:xfrm>
            <a:off x="0" y="2957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3256" name="Object 8"/>
          <p:cNvGraphicFramePr>
            <a:graphicFrameLocks noChangeAspect="1"/>
          </p:cNvGraphicFramePr>
          <p:nvPr/>
        </p:nvGraphicFramePr>
        <p:xfrm>
          <a:off x="363538" y="777875"/>
          <a:ext cx="7805737" cy="344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3260" name="Формула" r:id="rId3" imgW="2133600" imgH="939800" progId="Equation.3">
                  <p:embed/>
                </p:oleObj>
              </mc:Choice>
              <mc:Fallback>
                <p:oleObj name="Формула" r:id="rId3" imgW="2133600" imgH="939800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8" y="777875"/>
                        <a:ext cx="7805737" cy="3449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8" name="Text Box 10"/>
          <p:cNvSpPr txBox="1">
            <a:spLocks noChangeArrowheads="1"/>
          </p:cNvSpPr>
          <p:nvPr/>
        </p:nvSpPr>
        <p:spPr bwMode="auto">
          <a:xfrm>
            <a:off x="8305800" y="2303463"/>
            <a:ext cx="6572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sz="3200">
                <a:latin typeface="Times New Roman" panose="02020603050405020304" pitchFamily="18" charset="0"/>
              </a:rPr>
              <a:t>(1)</a:t>
            </a:r>
            <a:endParaRPr lang="ru-RU" sz="320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ChangeArrowheads="1"/>
          </p:cNvSpPr>
          <p:nvPr/>
        </p:nvSpPr>
        <p:spPr bwMode="auto">
          <a:xfrm>
            <a:off x="0" y="2957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4275" name="Rectangle 3"/>
          <p:cNvSpPr>
            <a:spLocks noChangeArrowheads="1"/>
          </p:cNvSpPr>
          <p:nvPr/>
        </p:nvSpPr>
        <p:spPr bwMode="auto">
          <a:xfrm>
            <a:off x="0" y="2957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4276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sp>
        <p:nvSpPr>
          <p:cNvPr id="54277" name="Rectangle 5"/>
          <p:cNvSpPr>
            <a:spLocks noChangeArrowheads="1"/>
          </p:cNvSpPr>
          <p:nvPr/>
        </p:nvSpPr>
        <p:spPr bwMode="auto">
          <a:xfrm>
            <a:off x="0" y="2957513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ru-RU"/>
          </a:p>
        </p:txBody>
      </p:sp>
      <p:graphicFrame>
        <p:nvGraphicFramePr>
          <p:cNvPr id="54284" name="Object 12"/>
          <p:cNvGraphicFramePr>
            <a:graphicFrameLocks noChangeAspect="1"/>
          </p:cNvGraphicFramePr>
          <p:nvPr/>
        </p:nvGraphicFramePr>
        <p:xfrm>
          <a:off x="890588" y="2381250"/>
          <a:ext cx="652462" cy="566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299" name="Формула" r:id="rId3" imgW="215713" imgH="190335" progId="Equation.3">
                  <p:embed/>
                </p:oleObj>
              </mc:Choice>
              <mc:Fallback>
                <p:oleObj name="Формула" r:id="rId3" imgW="215713" imgH="190335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0588" y="2381250"/>
                        <a:ext cx="652462" cy="566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3" name="Object 11"/>
          <p:cNvGraphicFramePr>
            <a:graphicFrameLocks noChangeAspect="1"/>
          </p:cNvGraphicFramePr>
          <p:nvPr/>
        </p:nvGraphicFramePr>
        <p:xfrm>
          <a:off x="700088" y="3448050"/>
          <a:ext cx="1343025" cy="527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0" name="Формула" r:id="rId5" imgW="482391" imgH="190417" progId="Equation.3">
                  <p:embed/>
                </p:oleObj>
              </mc:Choice>
              <mc:Fallback>
                <p:oleObj name="Формула" r:id="rId5" imgW="482391" imgH="190417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0088" y="3448050"/>
                        <a:ext cx="1343025" cy="5270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2" name="Object 10"/>
          <p:cNvGraphicFramePr>
            <a:graphicFrameLocks noChangeAspect="1"/>
          </p:cNvGraphicFramePr>
          <p:nvPr/>
        </p:nvGraphicFramePr>
        <p:xfrm>
          <a:off x="376238" y="4478338"/>
          <a:ext cx="20066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1" name="Формула" r:id="rId7" imgW="698500" imgH="190500" progId="Equation.3">
                  <p:embed/>
                </p:oleObj>
              </mc:Choice>
              <mc:Fallback>
                <p:oleObj name="Формула" r:id="rId7" imgW="698500" imgH="190500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238" y="4478338"/>
                        <a:ext cx="2006600" cy="54927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1" name="Object 9"/>
          <p:cNvGraphicFramePr>
            <a:graphicFrameLocks noChangeAspect="1"/>
          </p:cNvGraphicFramePr>
          <p:nvPr/>
        </p:nvGraphicFramePr>
        <p:xfrm>
          <a:off x="6878638" y="3452813"/>
          <a:ext cx="1558925" cy="708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2" name="Формула" r:id="rId9" imgW="520474" imgH="241195" progId="Equation.3">
                  <p:embed/>
                </p:oleObj>
              </mc:Choice>
              <mc:Fallback>
                <p:oleObj name="Формула" r:id="rId9" imgW="520474" imgH="241195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78638" y="3452813"/>
                        <a:ext cx="1558925" cy="7080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80" name="Object 8"/>
          <p:cNvGraphicFramePr>
            <a:graphicFrameLocks noChangeAspect="1"/>
          </p:cNvGraphicFramePr>
          <p:nvPr/>
        </p:nvGraphicFramePr>
        <p:xfrm>
          <a:off x="727075" y="5267325"/>
          <a:ext cx="836613" cy="619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3" name="Формула" r:id="rId11" imgW="253890" imgH="190417" progId="Equation.3">
                  <p:embed/>
                </p:oleObj>
              </mc:Choice>
              <mc:Fallback>
                <p:oleObj name="Формула" r:id="rId11" imgW="253890" imgH="19041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7075" y="5267325"/>
                        <a:ext cx="836613" cy="6191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279" name="Object 7"/>
          <p:cNvGraphicFramePr>
            <a:graphicFrameLocks noChangeAspect="1"/>
          </p:cNvGraphicFramePr>
          <p:nvPr/>
        </p:nvGraphicFramePr>
        <p:xfrm>
          <a:off x="4791075" y="5972175"/>
          <a:ext cx="345122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4304" name="Формула" r:id="rId13" imgW="1308100" imgH="190500" progId="Equation.3">
                  <p:embed/>
                </p:oleObj>
              </mc:Choice>
              <mc:Fallback>
                <p:oleObj name="Формула" r:id="rId13" imgW="1308100" imgH="190500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1075" y="5972175"/>
                        <a:ext cx="3451225" cy="5032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285" name="Rectangle 13"/>
          <p:cNvSpPr>
            <a:spLocks noChangeArrowheads="1"/>
          </p:cNvSpPr>
          <p:nvPr/>
        </p:nvSpPr>
        <p:spPr bwMode="auto">
          <a:xfrm>
            <a:off x="585788" y="379413"/>
            <a:ext cx="8186737" cy="18002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 eaLnBrk="0" hangingPunct="0"/>
            <a:r>
              <a:rPr lang="ru-RU" sz="2800">
                <a:latin typeface="Times New Roman" panose="02020603050405020304" pitchFamily="18" charset="0"/>
                <a:cs typeface="Times New Roman" panose="02020603050405020304" pitchFamily="18" charset="0"/>
              </a:rPr>
              <a:t>Квадратная матрица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lang="ru-RU" sz="28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невырожденная </a:t>
            </a:r>
            <a:r>
              <a:rPr lang="ru-RU" sz="2800">
                <a:latin typeface="Times New Roman" panose="02020603050405020304" pitchFamily="18" charset="0"/>
                <a:cs typeface="Times New Roman" panose="02020603050405020304" pitchFamily="18" charset="0"/>
              </a:rPr>
              <a:t>если 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|A|≠0</a:t>
            </a:r>
          </a:p>
          <a:p>
            <a:pPr algn="just" eaLnBrk="0" hangingPunct="0"/>
            <a:r>
              <a:rPr lang="ru-RU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Теорема</a:t>
            </a:r>
            <a:r>
              <a:rPr lang="ru-RU" sz="2800">
                <a:latin typeface="Times New Roman" panose="02020603050405020304" pitchFamily="18" charset="0"/>
                <a:cs typeface="Times New Roman" panose="02020603050405020304" pitchFamily="18" charset="0"/>
              </a:rPr>
              <a:t>. СЛАУ с </a:t>
            </a:r>
            <a:r>
              <a:rPr lang="en-US" sz="2800" i="1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r>
              <a:rPr lang="ru-RU" sz="2800">
                <a:latin typeface="Times New Roman" panose="02020603050405020304" pitchFamily="18" charset="0"/>
                <a:cs typeface="Times New Roman" panose="02020603050405020304" pitchFamily="18" charset="0"/>
              </a:rPr>
              <a:t> неизвестными, имеющая невырожденную матрицу, совместна и имеет единственное решение (т.е. является определённой).</a:t>
            </a:r>
            <a:endParaRPr lang="ru-RU" sz="2800">
              <a:latin typeface="Times New Roman" panose="02020603050405020304" pitchFamily="18" charset="0"/>
            </a:endParaRPr>
          </a:p>
        </p:txBody>
      </p:sp>
      <p:sp>
        <p:nvSpPr>
          <p:cNvPr id="54286" name="Rectangle 14"/>
          <p:cNvSpPr>
            <a:spLocks noChangeArrowheads="1"/>
          </p:cNvSpPr>
          <p:nvPr/>
        </p:nvSpPr>
        <p:spPr bwMode="auto">
          <a:xfrm>
            <a:off x="2266950" y="3498850"/>
            <a:ext cx="4425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Симметрическая матрица</a:t>
            </a:r>
            <a:endParaRPr lang="ru-RU" sz="2800">
              <a:latin typeface="Times New Roman" panose="02020603050405020304" pitchFamily="18" charset="0"/>
            </a:endParaRPr>
          </a:p>
        </p:txBody>
      </p:sp>
      <p:sp>
        <p:nvSpPr>
          <p:cNvPr id="54287" name="Rectangle 15"/>
          <p:cNvSpPr>
            <a:spLocks noChangeArrowheads="1"/>
          </p:cNvSpPr>
          <p:nvPr/>
        </p:nvSpPr>
        <p:spPr bwMode="auto">
          <a:xfrm>
            <a:off x="2705100" y="4554538"/>
            <a:ext cx="55737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pPr algn="just"/>
            <a:r>
              <a:rPr lang="ru-RU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Ортогональная матрица</a:t>
            </a:r>
            <a:endParaRPr lang="ru-RU" sz="2800">
              <a:latin typeface="Times New Roman" panose="02020603050405020304" pitchFamily="18" charset="0"/>
            </a:endParaRPr>
          </a:p>
        </p:txBody>
      </p:sp>
      <p:sp>
        <p:nvSpPr>
          <p:cNvPr id="54290" name="Rectangle 18"/>
          <p:cNvSpPr>
            <a:spLocks noChangeArrowheads="1"/>
          </p:cNvSpPr>
          <p:nvPr/>
        </p:nvSpPr>
        <p:spPr bwMode="auto">
          <a:xfrm>
            <a:off x="2211388" y="5429250"/>
            <a:ext cx="31353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обратная матрица</a:t>
            </a:r>
            <a:endParaRPr lang="ru-RU" sz="2800" b="1">
              <a:latin typeface="Times New Roman" panose="02020603050405020304" pitchFamily="18" charset="0"/>
            </a:endParaRPr>
          </a:p>
        </p:txBody>
      </p:sp>
      <p:sp>
        <p:nvSpPr>
          <p:cNvPr id="54292" name="Rectangle 20"/>
          <p:cNvSpPr>
            <a:spLocks noChangeArrowheads="1"/>
          </p:cNvSpPr>
          <p:nvPr/>
        </p:nvSpPr>
        <p:spPr bwMode="auto">
          <a:xfrm>
            <a:off x="1849438" y="2409825"/>
            <a:ext cx="48847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pPr algn="just"/>
            <a:r>
              <a:rPr lang="ru-RU" sz="2800" b="1">
                <a:latin typeface="Times New Roman" panose="02020603050405020304" pitchFamily="18" charset="0"/>
                <a:cs typeface="Times New Roman" panose="02020603050405020304" pitchFamily="18" charset="0"/>
              </a:rPr>
              <a:t>транспонированная матрица</a:t>
            </a:r>
            <a:endParaRPr lang="ru-RU" sz="2800" b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428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42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4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42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5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54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54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54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2" dur="500"/>
                                        <p:tgtEl>
                                          <p:spTgt spid="54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54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2" dur="500"/>
                                        <p:tgtEl>
                                          <p:spTgt spid="542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85" grpId="0" build="p"/>
      <p:bldP spid="54286" grpId="0"/>
      <p:bldP spid="54287" grpId="0"/>
      <p:bldP spid="54290" grpId="0"/>
      <p:bldP spid="5429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16" name="Rectangle 20"/>
          <p:cNvSpPr>
            <a:spLocks noChangeArrowheads="1"/>
          </p:cNvSpPr>
          <p:nvPr/>
        </p:nvSpPr>
        <p:spPr bwMode="auto">
          <a:xfrm>
            <a:off x="327025" y="346075"/>
            <a:ext cx="8572500" cy="3038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76176" bIns="38088" anchor="ctr">
            <a:spAutoFit/>
          </a:bodyPr>
          <a:lstStyle>
            <a:lvl1pPr indent="4508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/>
            <a:r>
              <a:rPr lang="ru-RU" sz="3200" b="1" i="1">
                <a:latin typeface="Times New Roman" panose="02020603050405020304" pitchFamily="18" charset="0"/>
                <a:cs typeface="Arial" panose="020B0604020202020204" pitchFamily="34" charset="0"/>
              </a:rPr>
              <a:t>Метод Гаусса</a:t>
            </a:r>
            <a:endParaRPr lang="en-US" sz="3200" b="1" i="1">
              <a:latin typeface="Times New Roman" panose="02020603050405020304" pitchFamily="18" charset="0"/>
              <a:cs typeface="Arial" panose="020B0604020202020204" pitchFamily="34" charset="0"/>
            </a:endParaRPr>
          </a:p>
          <a:p>
            <a:pPr algn="just" eaLnBrk="0" hangingPunct="0"/>
            <a:r>
              <a:rPr lang="ru-RU" sz="3200">
                <a:latin typeface="Times New Roman" panose="02020603050405020304" pitchFamily="18" charset="0"/>
                <a:cs typeface="Times New Roman" panose="02020603050405020304" pitchFamily="18" charset="0"/>
              </a:rPr>
              <a:t>этапы</a:t>
            </a:r>
            <a:endParaRPr lang="ru-RU" sz="3200">
              <a:latin typeface="Times New Roman" panose="02020603050405020304" pitchFamily="18" charset="0"/>
            </a:endParaRPr>
          </a:p>
          <a:p>
            <a:pPr algn="just" eaLnBrk="0" hangingPunct="0">
              <a:buFont typeface="Symbol" panose="05050102010706020507" pitchFamily="18" charset="2"/>
              <a:buChar char=""/>
            </a:pPr>
            <a:r>
              <a:rPr lang="ru-RU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прямой ход</a:t>
            </a:r>
            <a:r>
              <a:rPr lang="ru-RU" sz="3200">
                <a:latin typeface="Times New Roman" panose="02020603050405020304" pitchFamily="18" charset="0"/>
                <a:cs typeface="Times New Roman" panose="02020603050405020304" pitchFamily="18" charset="0"/>
              </a:rPr>
              <a:t> –</a:t>
            </a:r>
          </a:p>
          <a:p>
            <a:pPr algn="just" eaLnBrk="0" hangingPunct="0">
              <a:buFont typeface="Symbol" panose="05050102010706020507" pitchFamily="18" charset="2"/>
              <a:buNone/>
            </a:pPr>
            <a:r>
              <a:rPr lang="ru-RU" sz="3200">
                <a:latin typeface="Times New Roman" panose="02020603050405020304" pitchFamily="18" charset="0"/>
                <a:cs typeface="Times New Roman" panose="02020603050405020304" pitchFamily="18" charset="0"/>
              </a:rPr>
              <a:t>последовательное исключение неизвестных;</a:t>
            </a:r>
            <a:endParaRPr lang="ru-RU" sz="3200">
              <a:latin typeface="Times New Roman" panose="02020603050405020304" pitchFamily="18" charset="0"/>
            </a:endParaRPr>
          </a:p>
          <a:p>
            <a:pPr algn="just" eaLnBrk="0" hangingPunct="0">
              <a:buFont typeface="Symbol" panose="05050102010706020507" pitchFamily="18" charset="2"/>
              <a:buChar char=""/>
            </a:pPr>
            <a:r>
              <a:rPr lang="ru-RU" sz="3200" b="1">
                <a:latin typeface="Times New Roman" panose="02020603050405020304" pitchFamily="18" charset="0"/>
                <a:cs typeface="Times New Roman" panose="02020603050405020304" pitchFamily="18" charset="0"/>
              </a:rPr>
              <a:t>обратный ход</a:t>
            </a:r>
            <a:r>
              <a:rPr lang="ru-RU" sz="3200">
                <a:latin typeface="Times New Roman" panose="02020603050405020304" pitchFamily="18" charset="0"/>
                <a:cs typeface="Times New Roman" panose="02020603050405020304" pitchFamily="18" charset="0"/>
              </a:rPr>
              <a:t> – последовательное нахождение неизвестных, начиная с </a:t>
            </a:r>
            <a:r>
              <a:rPr lang="en-US" sz="3200" b="1" i="1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r>
              <a:rPr lang="en-US" sz="3200" b="1" i="1" baseline="-25000">
                <a:latin typeface="Times New Roman" panose="02020603050405020304" pitchFamily="18" charset="0"/>
                <a:cs typeface="Times New Roman" panose="02020603050405020304" pitchFamily="18" charset="0"/>
              </a:rPr>
              <a:t>n</a:t>
            </a:r>
            <a:endParaRPr lang="ru-RU" sz="3200" b="1" i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53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531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531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53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53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31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46" name="Rectangle 26"/>
          <p:cNvSpPr>
            <a:spLocks noChangeArrowheads="1"/>
          </p:cNvSpPr>
          <p:nvPr/>
        </p:nvSpPr>
        <p:spPr bwMode="auto">
          <a:xfrm>
            <a:off x="1557338" y="841375"/>
            <a:ext cx="571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ru-RU"/>
          </a:p>
        </p:txBody>
      </p:sp>
      <p:sp>
        <p:nvSpPr>
          <p:cNvPr id="56353" name="Rectangle 33"/>
          <p:cNvSpPr>
            <a:spLocks noChangeArrowheads="1"/>
          </p:cNvSpPr>
          <p:nvPr/>
        </p:nvSpPr>
        <p:spPr bwMode="auto">
          <a:xfrm>
            <a:off x="1557338" y="841375"/>
            <a:ext cx="571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ru-RU"/>
          </a:p>
        </p:txBody>
      </p:sp>
      <p:sp>
        <p:nvSpPr>
          <p:cNvPr id="56360" name="Rectangle 40"/>
          <p:cNvSpPr>
            <a:spLocks noChangeArrowheads="1"/>
          </p:cNvSpPr>
          <p:nvPr/>
        </p:nvSpPr>
        <p:spPr bwMode="auto">
          <a:xfrm>
            <a:off x="1557338" y="841375"/>
            <a:ext cx="571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ru-RU"/>
          </a:p>
        </p:txBody>
      </p:sp>
      <p:sp>
        <p:nvSpPr>
          <p:cNvPr id="56368" name="Rectangle 48"/>
          <p:cNvSpPr>
            <a:spLocks noChangeArrowheads="1"/>
          </p:cNvSpPr>
          <p:nvPr/>
        </p:nvSpPr>
        <p:spPr bwMode="auto">
          <a:xfrm>
            <a:off x="1557338" y="841375"/>
            <a:ext cx="5715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endParaRPr lang="ru-RU"/>
          </a:p>
        </p:txBody>
      </p:sp>
      <p:graphicFrame>
        <p:nvGraphicFramePr>
          <p:cNvPr id="56794" name="Group 474"/>
          <p:cNvGraphicFramePr>
            <a:graphicFrameLocks noGrp="1"/>
          </p:cNvGraphicFramePr>
          <p:nvPr/>
        </p:nvGraphicFramePr>
        <p:xfrm>
          <a:off x="295275" y="401638"/>
          <a:ext cx="8499475" cy="5967412"/>
        </p:xfrm>
        <a:graphic>
          <a:graphicData uri="http://schemas.openxmlformats.org/drawingml/2006/table">
            <a:tbl>
              <a:tblPr/>
              <a:tblGrid>
                <a:gridCol w="604838"/>
                <a:gridCol w="1268412"/>
                <a:gridCol w="1268413"/>
                <a:gridCol w="1268412"/>
                <a:gridCol w="1270000"/>
                <a:gridCol w="1422400"/>
                <a:gridCol w="1397000"/>
              </a:tblGrid>
              <a:tr h="596900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sz="1400" b="1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Σ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6900"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sz="14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sz="14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sz="14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sz="14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69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sz="14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sz="14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sz="14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sz="14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69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sz="14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31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sz="14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sz="14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33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0" lang="en-US" sz="1400" b="0" i="0" u="none" strike="noStrike" cap="none" normalizeH="0" baseline="-3000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34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6900"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531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69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6900">
                <a:tc rowSpan="3"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4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anchor="ctr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69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96900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3pPr>
                      <a:lvl4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4pPr>
                      <a:lvl5pPr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ru-RU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Оформление по умолчанию">
  <a:themeElements>
    <a:clrScheme name="Оформление по умолчанию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Оформление по умолчанию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Оформление по умолчанию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Оформление по умолчанию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Оформление по умолчанию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453</TotalTime>
  <Words>261</Words>
  <Application>Microsoft Office PowerPoint</Application>
  <PresentationFormat>Экран (4:3)</PresentationFormat>
  <Paragraphs>72</Paragraphs>
  <Slides>11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6" baseType="lpstr">
      <vt:lpstr>Arial</vt:lpstr>
      <vt:lpstr>Times New Roman</vt:lpstr>
      <vt:lpstr>Symbol</vt:lpstr>
      <vt:lpstr>Оформление по умолчанию</vt:lpstr>
      <vt:lpstr>Microsoft Equation 3.0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Home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Marina</dc:creator>
  <cp:lastModifiedBy>Kozlovskich M.E.00</cp:lastModifiedBy>
  <cp:revision>58</cp:revision>
  <dcterms:created xsi:type="dcterms:W3CDTF">2010-02-09T16:12:49Z</dcterms:created>
  <dcterms:modified xsi:type="dcterms:W3CDTF">2019-10-22T06:52:15Z</dcterms:modified>
</cp:coreProperties>
</file>